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73" r:id="rId3"/>
    <p:sldId id="259" r:id="rId4"/>
    <p:sldId id="260" r:id="rId5"/>
    <p:sldId id="264" r:id="rId6"/>
    <p:sldId id="263" r:id="rId7"/>
    <p:sldId id="265" r:id="rId8"/>
    <p:sldId id="267" r:id="rId9"/>
    <p:sldId id="274" r:id="rId10"/>
    <p:sldId id="275" r:id="rId11"/>
    <p:sldId id="269" r:id="rId12"/>
    <p:sldId id="271" r:id="rId13"/>
    <p:sldId id="272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5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EFE308-B69C-41AF-BB92-0BC091A4FB2B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3A5F8E-83B8-440B-9C78-47C59A8853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9878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C7DEB1-D86B-44A8-8FF6-3BBD50E8C0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DB765C-56AA-42AA-B28B-849FC82E25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05CC36-F585-47A1-B806-02B76CD39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9241B-CB0F-4E82-AAD9-F1CB07A3F1EA}" type="datetime1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23C6C1-4D91-4E90-B596-7B76F2E69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6607AF-74CB-4321-95C1-D8D1B7291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440074FC-AA55-4758-AE70-C237809557F1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4898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AB8C5A-684D-4C6E-8098-AAC72AD39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D28FFF-B324-4407-9711-D1B608097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534947-4AD6-414C-B99C-4EC8E2BD0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D22DE-E719-4EA5-826F-AA1E80A848BE}" type="datetime1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97E819-130F-4AFB-97BA-1012A3570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600C27-EA44-4950-A972-6661CF21E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074FC-AA55-4758-AE70-C237809557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7754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796CE3-C902-489C-97C2-AC9090CEC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811C9D1-8631-4B36-B7BD-A230B65B1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95BF3B-27DC-40AD-A0AC-C3D0631B7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EFED5-94E1-4989-B97D-D6B3F0A7F90D}" type="datetime1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01C7E4-673C-4154-9B03-47478C995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8FA784-767B-443E-ABA0-DDBBC7144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074FC-AA55-4758-AE70-C237809557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9524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69DDA9-FB02-4D98-A825-CEC12F015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300A59-C472-4258-B000-56C6094E96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ECF2EEE-AA68-45A9-9822-26D8BA5496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23F49AA-0B4F-4423-BCD4-2223B1E0E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B6ED-62C0-49D0-90EC-479FAC260288}" type="datetime1">
              <a:rPr lang="ru-RU" smtClean="0"/>
              <a:t>25.06.2026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0150487-372C-4572-B4EE-D08880A02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74E5BA-30C0-4488-8292-DE55077B6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074FC-AA55-4758-AE70-C237809557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8520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49F0E4-5E62-4194-B22E-32754C19A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514A41B-6102-45B4-BFF9-B4B2CE78C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D791830-F936-4936-BF46-11DB139AB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26F808C-F3DE-4A37-95E2-D72526AD09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518E6B7-1E6E-42F5-877E-4466D28766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1C3454A-75B7-4346-B611-F25C139FF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787E0-C856-4BD0-BA25-D3AA22CDFBE9}" type="datetime1">
              <a:rPr lang="ru-RU" smtClean="0"/>
              <a:t>25.06.2026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F6581F-16D4-4F1F-B999-D5ABD5576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CB6E076-1319-4F9C-86D2-BBA8E940C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074FC-AA55-4758-AE70-C237809557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517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9F7896-A94A-4010-836C-2D3E67EB4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1DCDF7C-FD57-41DA-AA01-6024AF7BE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835FB-8B54-4FAF-B7D6-0B6600788F7B}" type="datetime1">
              <a:rPr lang="ru-RU" smtClean="0"/>
              <a:t>25.06.2026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234A4C1-3C7E-4F9C-A2CC-69D549B6F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33F8C06-DD1C-4B3E-8081-292125EA4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074FC-AA55-4758-AE70-C237809557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8863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EA814B9-BBFE-41B0-98BE-0B771FB1A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7DD5E-60A5-4DD5-9526-CFC49DAA8B59}" type="datetime1">
              <a:rPr lang="ru-RU" smtClean="0"/>
              <a:t>25.06.2026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6074A6B-96E5-47BB-B5B6-4F2D40926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7D8C25-AB81-4ED5-96B8-35262F3C3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074FC-AA55-4758-AE70-C237809557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226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9453F7-C55F-4CAF-8ACD-67FD569F0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6766EB-4093-4D37-96DD-EAD5283A2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A8E00B7-87EC-45FD-822C-C9A57C9D27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BF1F18B-092A-4729-AFB7-BD74FB0AF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1FE0E-6883-43FB-9649-A125DFEF8AFF}" type="datetime1">
              <a:rPr lang="ru-RU" smtClean="0"/>
              <a:t>25.06.2026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9DA65B5-43A5-4F9F-9E51-51A2DC928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B7549E6-2199-4F71-AA2A-66299BF71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074FC-AA55-4758-AE70-C237809557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6196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0E1B51-1F3E-4111-8F24-0351584FD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4741603-99C6-4AC6-87AB-09ED225C98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F1FAF28-5D7B-4B14-AB69-DB5F9965CB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8D9C138-B9D8-474A-ABCD-F900E62A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AE21-6481-4769-8C42-623C5DF6B978}" type="datetime1">
              <a:rPr lang="ru-RU" smtClean="0"/>
              <a:t>25.06.2026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93CC643-8A5C-4D6D-95DC-BE0CD34B0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CD65194-1B07-4AC4-8C74-D2F7AABCF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074FC-AA55-4758-AE70-C237809557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1821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AD8445-74A7-43CD-BB46-F3AACCFC7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810C6D8-C5C2-4A83-BA0F-B9564FF84C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F98278-813E-4C3A-9CD0-FD733792C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939E1-6D1C-4EC2-B5D8-09AD7E4120F6}" type="datetime1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92964A-1133-46A3-8546-7DAD76E16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6FD3BE-BF93-4DAA-B626-3F2F8981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074FC-AA55-4758-AE70-C237809557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371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576560B-1336-4D6C-B7B7-23135F25ED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32938C2-BA5F-4278-9D7C-ED7B03D0A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B90513-F644-4853-AF31-4D2BE6105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B47E-4801-4560-8FAC-9E75BD64A373}" type="datetime1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0FF1EC-E03D-4473-9A97-A51150713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B4542F-27A4-41E5-88D0-86E06678A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074FC-AA55-4758-AE70-C237809557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7698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8799D2-4D15-44E7-9EA2-FFA542862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AF46610-2E83-4390-AB68-6DFAC88ED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477165-A1B7-487E-8A77-4FA23D749E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24D98A-808B-4588-820C-708A8079F06F}" type="datetime1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ECCB70-12DC-4118-A15D-69566B198B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1A279D-ADDD-478C-BCBF-21C5BEEBF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1784" y="3175"/>
            <a:ext cx="1430215" cy="1325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440074FC-AA55-4758-AE70-C237809557F1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5202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C7375A-CAEA-46ED-9799-09263535CD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1999" cy="1378744"/>
          </a:xfrm>
        </p:spPr>
        <p:txBody>
          <a:bodyPr>
            <a:norm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и науки Российской Федерации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автономное образовательное учреждение высшего образования «Московский государственный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технический университет имени Н. Э. Баумана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(национальный исследовательский университет)»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(МГТУ им. Н. Э. Баумана)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Мытищинский филиал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A6BCEF-9ACE-4873-B823-27F104F863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78744"/>
            <a:ext cx="12192000" cy="128587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Факультет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Космический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Прикладная математика, информатика и вычислительная техника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Специальность 09.03.01 –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Информатика и вычислительная техника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61CC1E-9A2F-44F3-A5FD-6A84335E6439}"/>
              </a:ext>
            </a:extLst>
          </p:cNvPr>
          <p:cNvSpPr txBox="1"/>
          <p:nvPr/>
        </p:nvSpPr>
        <p:spPr>
          <a:xfrm>
            <a:off x="-1" y="2593182"/>
            <a:ext cx="1219199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</a:t>
            </a:r>
          </a:p>
          <a:p>
            <a:pPr algn="ctr">
              <a:lnSpc>
                <a:spcPct val="15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тему:</a:t>
            </a:r>
          </a:p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веб-приложения для отслеживания</a:t>
            </a:r>
          </a:p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привлекательности инвестиций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C0A126-F82A-4362-A8F7-52347E560BCD}"/>
              </a:ext>
            </a:extLst>
          </p:cNvPr>
          <p:cNvSpPr txBox="1"/>
          <p:nvPr/>
        </p:nvSpPr>
        <p:spPr>
          <a:xfrm>
            <a:off x="6095998" y="4839951"/>
            <a:ext cx="6096000" cy="1115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Теплов Ярослав Александрович</a:t>
            </a:r>
          </a:p>
          <a:p>
            <a:pPr>
              <a:lnSpc>
                <a:spcPct val="20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Афанасьева В. В.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9F6929-C1F0-41C7-B082-4EE382B84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074FC-AA55-4758-AE70-C237809557F1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8940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E3A2D9-8210-43E3-BE76-F7EDB4B58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75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194296-BE49-4286-A1D0-F79FB2F8C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243" y="1035845"/>
            <a:ext cx="10589513" cy="5472111"/>
          </a:xfrm>
        </p:spPr>
        <p:txBody>
          <a:bodyPr>
            <a:noAutofit/>
          </a:bodyPr>
          <a:lstStyle/>
          <a:p>
            <a:pPr marL="0" indent="0">
              <a:lnSpc>
                <a:spcPts val="15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Сегодня, долгосрочный инвестор в акции российских компаний сталкивается со следующими вызовами:</a:t>
            </a:r>
          </a:p>
          <a:p>
            <a:pPr>
              <a:lnSpc>
                <a:spcPts val="1500"/>
              </a:lnSpc>
              <a:spcBef>
                <a:spcPts val="500"/>
              </a:spcBef>
              <a:spcAft>
                <a:spcPts val="200"/>
              </a:spcAf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необходимость осуществлять трудовую деятельность для создания материальной базы для инвестиций (реализация своего человеческого капитала)</a:t>
            </a:r>
          </a:p>
          <a:p>
            <a:pPr>
              <a:lnSpc>
                <a:spcPts val="1500"/>
              </a:lnSpc>
              <a:spcBef>
                <a:spcPts val="500"/>
              </a:spcBef>
              <a:spcAft>
                <a:spcPts val="200"/>
              </a:spcAf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необходимость следить за новостным фоном (геополитический фактор)</a:t>
            </a:r>
          </a:p>
          <a:p>
            <a:pPr>
              <a:lnSpc>
                <a:spcPts val="1500"/>
              </a:lnSpc>
              <a:spcBef>
                <a:spcPts val="500"/>
              </a:spcBef>
              <a:spcAft>
                <a:spcPts val="200"/>
              </a:spcAf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необходимость регулярно пересматривать состав портфеля избавляясь от переоцененных рынком акций в пользу недооцененных 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ребалансировка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портфеля)</a:t>
            </a:r>
          </a:p>
          <a:p>
            <a:pPr marL="0" indent="0">
              <a:lnSpc>
                <a:spcPts val="15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Грамотное управление долгосрочным портфелем включает постоянный анализ привлекательности ценных бумаг.</a:t>
            </a:r>
          </a:p>
          <a:p>
            <a:pPr marL="0" indent="0">
              <a:lnSpc>
                <a:spcPts val="15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 такого анализа, снижает затраты на принятие инвестиционных решений и избавляет от упущенных возможностей.</a:t>
            </a:r>
          </a:p>
          <a:p>
            <a:pPr marL="0" indent="0">
              <a:lnSpc>
                <a:spcPts val="15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Существующие сегодня в России приложения для инвестиций (особенно бесплатные) слабо справляются с этой задачей, имея следующие недостатки:</a:t>
            </a:r>
          </a:p>
          <a:p>
            <a:pPr>
              <a:lnSpc>
                <a:spcPts val="1500"/>
              </a:lnSpc>
              <a:spcBef>
                <a:spcPts val="500"/>
              </a:spcBef>
              <a:spcAft>
                <a:spcPts val="200"/>
              </a:spcAf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недостаточный охват ключевых показателей финансовой деятельности компаний (например, часто не указывается чистый долг)</a:t>
            </a:r>
          </a:p>
          <a:p>
            <a:pPr>
              <a:lnSpc>
                <a:spcPts val="1500"/>
              </a:lnSpc>
              <a:spcBef>
                <a:spcPts val="500"/>
              </a:spcBef>
              <a:spcAft>
                <a:spcPts val="200"/>
              </a:spcAf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недостаточная актуальность основных мультипликаторов (расчет p/e, p/b раз в полгода-год)</a:t>
            </a:r>
          </a:p>
          <a:p>
            <a:pPr>
              <a:lnSpc>
                <a:spcPts val="1500"/>
              </a:lnSpc>
              <a:spcBef>
                <a:spcPts val="500"/>
              </a:spcBef>
              <a:spcAft>
                <a:spcPts val="200"/>
              </a:spcAf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ошибки в расчетах мультипликаторов</a:t>
            </a:r>
          </a:p>
          <a:p>
            <a:pPr>
              <a:lnSpc>
                <a:spcPts val="1500"/>
              </a:lnSpc>
              <a:spcBef>
                <a:spcPts val="500"/>
              </a:spcBef>
              <a:spcAft>
                <a:spcPts val="200"/>
              </a:spcAf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невозможность гибко настроить уведомления (уведомления только по порогу цены, а не по набору показателей)</a:t>
            </a:r>
          </a:p>
          <a:p>
            <a:pPr marL="0" indent="0">
              <a:lnSpc>
                <a:spcPts val="15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Необходимо снять с инвестора нагрузку по постоянному пересчёту мультипликаторов акций и реализовать приложение, выполняющее эту задачу в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рантайм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ts val="15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Своевременное уведомление о входе фундаментальных показателей в интересующий инвестора интервал позволит в тот же день рассмотреть целесообразность покупки или продажи бумаги и не упустить благоприятную возможность.</a:t>
            </a:r>
          </a:p>
          <a:p>
            <a:pPr marL="0" indent="0">
              <a:lnSpc>
                <a:spcPts val="15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отличии от трейдинга, долгосрочные инвестиции не требуют частых сделок, но их эффективность можно и нужно повышать, выбирая удачные моменты для покупки или заблаговременно продавая переоцененное.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E178838-4738-4FA0-BEF3-9CC924B98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074FC-AA55-4758-AE70-C237809557F1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0428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391BF-E2EA-49F3-B769-D9F10967C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75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3C0CC33-CA45-4C8F-ADB6-D46EC19AB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074FC-AA55-4758-AE70-C237809557F1}" type="slidenum">
              <a:rPr lang="ru-RU" smtClean="0"/>
              <a:t>3</a:t>
            </a:fld>
            <a:endParaRPr lang="ru-RU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8B1ACA5C-B0B2-4096-B576-79DB4BF098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2672" y="1114206"/>
            <a:ext cx="11346656" cy="5275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азработать веб-приложение для мониторинга акций российских компаний и анализа их финансовых показателей для долгосрочного инвестора.</a:t>
            </a:r>
          </a:p>
          <a:p>
            <a:pPr marL="0" indent="0" eaLnBrk="0" fontAlgn="base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pPr marL="0" marR="0" lvl="0" indent="0" algn="l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Спроектировать и реализовать базу данных для хранения рыночной информации и пользовательских подписок. </a:t>
            </a:r>
          </a:p>
          <a:p>
            <a:pPr marL="0" marR="0" lvl="0" indent="0" algn="l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Разработать механизм автоматизированного сбора данных Московской биржи. </a:t>
            </a:r>
          </a:p>
          <a:p>
            <a:pPr marL="0" marR="0" lvl="0" indent="0" algn="l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Организовать хранение исторических котировок и финансовой отчетности компаний. </a:t>
            </a:r>
          </a:p>
          <a:p>
            <a:pPr marL="0" marR="0" lvl="0" indent="0" algn="l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Реализовать расчет инвестиционных коэффициентов. </a:t>
            </a:r>
          </a:p>
          <a:p>
            <a:pPr marL="0" marR="0" lvl="0" indent="0" algn="l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Разработать средства визуализации рыночных и финансовых данных. </a:t>
            </a:r>
          </a:p>
          <a:p>
            <a:pPr marL="0" marR="0" lvl="0" indent="0" algn="l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Реализовать сравнение нескольких акций по выбранным показателям. </a:t>
            </a:r>
          </a:p>
          <a:p>
            <a:pPr marL="0" marR="0" lvl="0" indent="0" algn="l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Разработать систему подписок на пользовательские условия. </a:t>
            </a:r>
          </a:p>
          <a:p>
            <a:pPr marL="0" marR="0" lvl="0" indent="0" algn="l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Реализовать автоматическую отправку уведомлений по электронной почте. </a:t>
            </a:r>
          </a:p>
        </p:txBody>
      </p:sp>
    </p:spTree>
    <p:extLst>
      <p:ext uri="{BB962C8B-B14F-4D97-AF65-F5344CB8AC3E}">
        <p14:creationId xmlns:p14="http://schemas.microsoft.com/office/powerpoint/2010/main" val="3779618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ED36C3-7A95-4C38-9419-642A81225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75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решения поставленных задач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A28465C9-0856-4667-8267-514F111D4E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5462630"/>
              </p:ext>
            </p:extLst>
          </p:nvPr>
        </p:nvGraphicFramePr>
        <p:xfrm>
          <a:off x="838200" y="1589880"/>
          <a:ext cx="10515600" cy="42322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62650563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52444194"/>
                    </a:ext>
                  </a:extLst>
                </a:gridCol>
              </a:tblGrid>
              <a:tr h="470253">
                <a:tc>
                  <a:txBody>
                    <a:bodyPr/>
                    <a:lstStyle/>
                    <a:p>
                      <a:pPr algn="l"/>
                      <a:r>
                        <a:rPr lang="ru-RU" sz="2000" b="1" dirty="0"/>
                        <a:t>Компонент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b="1" dirty="0"/>
                        <a:t>Технология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3792536"/>
                  </a:ext>
                </a:extLst>
              </a:tr>
              <a:tr h="470253">
                <a:tc>
                  <a:txBody>
                    <a:bodyPr/>
                    <a:lstStyle/>
                    <a:p>
                      <a:pPr algn="l"/>
                      <a:r>
                        <a:rPr lang="ru-RU" sz="2000" dirty="0"/>
                        <a:t>Язык программирования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925554"/>
                  </a:ext>
                </a:extLst>
              </a:tr>
              <a:tr h="470253">
                <a:tc>
                  <a:txBody>
                    <a:bodyPr/>
                    <a:lstStyle/>
                    <a:p>
                      <a:pPr algn="l"/>
                      <a:r>
                        <a:rPr lang="ru-RU" sz="2000" dirty="0"/>
                        <a:t>Хранение данных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PostgreSQL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8049308"/>
                  </a:ext>
                </a:extLst>
              </a:tr>
              <a:tr h="470253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Backend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Flask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1660035"/>
                  </a:ext>
                </a:extLst>
              </a:tr>
              <a:tr h="470253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Frontend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HTML</a:t>
                      </a:r>
                      <a:r>
                        <a:rPr lang="ru-RU" sz="2000" dirty="0"/>
                        <a:t>,</a:t>
                      </a:r>
                      <a:r>
                        <a:rPr lang="en-US" sz="2000" dirty="0"/>
                        <a:t>CSS</a:t>
                      </a:r>
                      <a:r>
                        <a:rPr lang="ru-RU" sz="2000" dirty="0"/>
                        <a:t>,</a:t>
                      </a:r>
                      <a:r>
                        <a:rPr lang="en-US" sz="2000" dirty="0"/>
                        <a:t>JavaScript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7612782"/>
                  </a:ext>
                </a:extLst>
              </a:tr>
              <a:tr h="470253">
                <a:tc>
                  <a:txBody>
                    <a:bodyPr/>
                    <a:lstStyle/>
                    <a:p>
                      <a:pPr algn="l"/>
                      <a:r>
                        <a:rPr lang="ru-RU" sz="2000" dirty="0"/>
                        <a:t>Визуализация графиков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Chart.js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0077006"/>
                  </a:ext>
                </a:extLst>
              </a:tr>
              <a:tr h="470253">
                <a:tc>
                  <a:txBody>
                    <a:bodyPr/>
                    <a:lstStyle/>
                    <a:p>
                      <a:pPr algn="l"/>
                      <a:r>
                        <a:rPr lang="ru-RU" sz="2000" dirty="0"/>
                        <a:t>Получение данных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ISS API </a:t>
                      </a:r>
                      <a:r>
                        <a:rPr lang="ru-RU" sz="2000" dirty="0"/>
                        <a:t>Московской биржи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7122232"/>
                  </a:ext>
                </a:extLst>
              </a:tr>
              <a:tr h="470253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Email</a:t>
                      </a:r>
                      <a:r>
                        <a:rPr lang="ru-RU" sz="2000" dirty="0"/>
                        <a:t> уведомления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SMTP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43121"/>
                  </a:ext>
                </a:extLst>
              </a:tr>
              <a:tr h="470253">
                <a:tc>
                  <a:txBody>
                    <a:bodyPr/>
                    <a:lstStyle/>
                    <a:p>
                      <a:pPr algn="l"/>
                      <a:r>
                        <a:rPr lang="ru-RU" sz="2000" dirty="0"/>
                        <a:t>Автоматизация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dirty="0"/>
                        <a:t>Планировщик задач </a:t>
                      </a:r>
                      <a:r>
                        <a:rPr lang="en-US" sz="2000" dirty="0"/>
                        <a:t>Windows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2729460"/>
                  </a:ext>
                </a:extLst>
              </a:tr>
            </a:tbl>
          </a:graphicData>
        </a:graphic>
      </p:graphicFrame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A032A71-DAC2-49E6-8FD4-67540F4C9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074FC-AA55-4758-AE70-C237809557F1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5491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DCC712-E532-44B8-9F7A-93463DACF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56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приложения</a:t>
            </a: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04F27ACE-E386-4FF3-BAC7-921EAC0F0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074FC-AA55-4758-AE70-C237809557F1}" type="slidenum">
              <a:rPr lang="ru-RU" smtClean="0"/>
              <a:t>5</a:t>
            </a:fld>
            <a:endParaRPr lang="ru-RU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41767373-F24E-4C23-932E-6EA32ECCEBF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053" y="1017162"/>
            <a:ext cx="3950494" cy="5797042"/>
          </a:xfrm>
        </p:spPr>
      </p:pic>
      <p:pic>
        <p:nvPicPr>
          <p:cNvPr id="18" name="Объект 17">
            <a:extLst>
              <a:ext uri="{FF2B5EF4-FFF2-40B4-BE49-F238E27FC236}">
                <a16:creationId xmlns:a16="http://schemas.microsoft.com/office/drawing/2014/main" id="{4C6A0BC1-43E6-40B0-98D3-47FB73A0E7F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293" y="1017162"/>
            <a:ext cx="2455523" cy="5803965"/>
          </a:xfrm>
        </p:spPr>
      </p:pic>
    </p:spTree>
    <p:extLst>
      <p:ext uri="{BB962C8B-B14F-4D97-AF65-F5344CB8AC3E}">
        <p14:creationId xmlns:p14="http://schemas.microsoft.com/office/powerpoint/2010/main" val="2274298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7F4C0A-EB9A-4C56-B466-5CBB3F334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175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базы данных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3E7C52-F570-41B6-B9D6-C9EFCE630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074FC-AA55-4758-AE70-C237809557F1}" type="slidenum">
              <a:rPr lang="ru-RU" smtClean="0"/>
              <a:t>6</a:t>
            </a:fld>
            <a:endParaRPr lang="ru-RU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D8A66EED-EDD4-45C8-9DAE-646831AC88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6785" y="942977"/>
            <a:ext cx="6501543" cy="582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050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ABB7E0-CEFF-40FE-83EF-227C0C694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175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работы системы сбора данных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AEE876-C33C-4F7D-B898-F7DB17B76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074FC-AA55-4758-AE70-C237809557F1}" type="slidenum">
              <a:rPr lang="ru-RU" smtClean="0"/>
              <a:t>7</a:t>
            </a:fld>
            <a:endParaRPr lang="ru-RU" dirty="0"/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9AA182D6-FFF0-4EB2-B77B-9A0BE761A1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173" y="887713"/>
            <a:ext cx="4057651" cy="5900500"/>
          </a:xfrm>
        </p:spPr>
      </p:pic>
    </p:spTree>
    <p:extLst>
      <p:ext uri="{BB962C8B-B14F-4D97-AF65-F5344CB8AC3E}">
        <p14:creationId xmlns:p14="http://schemas.microsoft.com/office/powerpoint/2010/main" val="2107830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54C1CA-A33A-4077-BAA5-37573D0FF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75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Пользовательский интерфейс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87C5A63-C1F3-45D9-A1A0-4C9A2DAA8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074FC-AA55-4758-AE70-C237809557F1}" type="slidenum">
              <a:rPr lang="ru-RU" smtClean="0"/>
              <a:t>8</a:t>
            </a:fld>
            <a:endParaRPr lang="ru-RU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4229EAFF-5616-494F-B889-44CF73AEC35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30960" y="963038"/>
            <a:ext cx="4630706" cy="5890420"/>
          </a:xfrm>
          <a:prstGeom prst="rect">
            <a:avLst/>
          </a:prstGeom>
        </p:spPr>
      </p:pic>
      <p:pic>
        <p:nvPicPr>
          <p:cNvPr id="10" name="Объект 9">
            <a:extLst>
              <a:ext uri="{FF2B5EF4-FFF2-40B4-BE49-F238E27FC236}">
                <a16:creationId xmlns:a16="http://schemas.microsoft.com/office/drawing/2014/main" id="{27C9291C-8F61-490B-A9CF-3EE705AF57E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30335" y="963722"/>
            <a:ext cx="4714866" cy="588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741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2EDDF8-1D91-4810-86FA-CE222AEB1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настройки уведомлений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10C878-E7ED-42E0-A69C-182F8E2E1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9643" y="1280113"/>
            <a:ext cx="4624663" cy="5242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Реализованы уведомления по: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цене акции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коэффициенту P/E 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коэффициенту P/B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коэффициенту P/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коэффициенту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FCF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коэффициенту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Debt/E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значению ликвидности за последний день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дивидендной доходности</a:t>
            </a: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Поддерживаются условия: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выше заданного значения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ниже заданного значения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4CB6E19-053B-4337-832D-3936DB742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074FC-AA55-4758-AE70-C237809557F1}" type="slidenum">
              <a:rPr lang="ru-RU" smtClean="0"/>
              <a:t>9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D6552AD-80CA-4111-8F6C-E0FA4A065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12" y="1280113"/>
            <a:ext cx="5272088" cy="272118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5374C0C-6C60-40E6-89F2-72B8657FF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084547"/>
            <a:ext cx="5272088" cy="243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382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870462-0EF0-49E4-A894-0C5608AA0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Уведомления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C4B8F2-62E0-4849-B24E-82399206F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4109" y="3136106"/>
            <a:ext cx="5705475" cy="31861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выполнении всех заданных условий пользователю автоматически отправляется уведомление на электронную почту. 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отправки уведомления статус подписки в базе данных изменяется на «неактивна», что предотвращает повторную отправку уведомлений по тем же условиям.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2D2688D-3C9E-4A0C-B718-18F13FA5F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074FC-AA55-4758-AE70-C237809557F1}" type="slidenum">
              <a:rPr lang="ru-RU" smtClean="0"/>
              <a:t>10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FB29C02-6289-4BDF-977F-4E1E4975A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692" y="1173027"/>
            <a:ext cx="4704435" cy="524135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281BE4E-C034-4C5D-8503-0A16E47FA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3618" y="1173027"/>
            <a:ext cx="5766456" cy="180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658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063CCD-BAA7-4EF6-9385-B906FF642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75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подписками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27DF753F-598A-464A-888E-69DD353CB1D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6649" y="1779063"/>
            <a:ext cx="3529013" cy="4033158"/>
          </a:xfrm>
        </p:spPr>
      </p:pic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AADB4EC5-6DD4-4233-BFB8-B57A570A6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074FC-AA55-4758-AE70-C237809557F1}" type="slidenum">
              <a:rPr lang="ru-RU" smtClean="0"/>
              <a:t>11</a:t>
            </a:fld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A5844AC-0762-4EC9-989D-2C65883823E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81088" y="1434261"/>
            <a:ext cx="5841206" cy="4692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107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65BC76-B9DE-48AF-AA66-0B106D1D8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75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Полученные 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685C56-F720-4BB6-A61C-667C5F46E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017" y="1328738"/>
            <a:ext cx="10773966" cy="5007768"/>
          </a:xfrm>
        </p:spPr>
        <p:txBody>
          <a:bodyPr>
            <a:noAutofit/>
          </a:bodyPr>
          <a:lstStyle/>
          <a:p>
            <a:pPr marL="0" indent="0">
              <a:lnSpc>
                <a:spcPts val="2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работы: </a:t>
            </a:r>
          </a:p>
          <a:p>
            <a:pPr>
              <a:lnSpc>
                <a:spcPts val="2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 база данных для хранения котировок акций, финансовой отчетности, дивидендных выплат и пользовательских подписок. </a:t>
            </a:r>
          </a:p>
          <a:p>
            <a:pPr>
              <a:lnSpc>
                <a:spcPts val="2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 автоматизированный сбор и обновление рыночных данных Московской биржи. </a:t>
            </a:r>
          </a:p>
          <a:p>
            <a:pPr>
              <a:lnSpc>
                <a:spcPts val="2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 расчет инвестиционных коэффициентов P/E, P/B,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P/S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ROE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Net Debt/E, FCF/E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основе финансовой отчетности компаний. </a:t>
            </a:r>
          </a:p>
          <a:p>
            <a:pPr>
              <a:lnSpc>
                <a:spcPts val="2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 веб-интерфейс для отображения рыночных данных, финансовых показателей и графиков. </a:t>
            </a:r>
          </a:p>
          <a:p>
            <a:pPr>
              <a:lnSpc>
                <a:spcPts val="2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Реализовано сравнение нескольких акций по выбранным показателям на одном графике. </a:t>
            </a:r>
          </a:p>
          <a:p>
            <a:pPr>
              <a:lnSpc>
                <a:spcPts val="2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система подписок на достижение заданных значений цены акции, коэффициентов P/E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P/B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P/S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Debt/E, FCF/E,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значений ликвидности и дивидендных показателей. </a:t>
            </a:r>
          </a:p>
          <a:p>
            <a:pPr>
              <a:lnSpc>
                <a:spcPts val="2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автоматическая отправка уведомлений по электронной почте при выполнении заданных условий. </a:t>
            </a:r>
          </a:p>
          <a:p>
            <a:pPr>
              <a:lnSpc>
                <a:spcPts val="2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 механизм управления подписками с использованием индивидуальных ссылок.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A51D9C-941D-4AFF-9822-A2791BA64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074FC-AA55-4758-AE70-C237809557F1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8443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30FFD2-2C62-47E5-957F-BE6DF379E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>
            <a:normAutofit/>
          </a:bodyPr>
          <a:lstStyle/>
          <a:p>
            <a:pPr algn="ctr"/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A7AA89F-BEF6-422C-B18F-660D4AB8F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074FC-AA55-4758-AE70-C237809557F1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963624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2784</TotalTime>
  <Words>684</Words>
  <Application>Microsoft Office PowerPoint</Application>
  <PresentationFormat>Широкоэкранный</PresentationFormat>
  <Paragraphs>100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Тема Office</vt:lpstr>
      <vt:lpstr>Министерство образования и науки Российской Федерации Федеральное государственное автономное образовательное учреждение высшего образования «Московский государственный технический университет имени Н. Э. Баумана (национальный исследовательский университет)» (МГТУ им. Н. Э. Баумана) Мытищинский филиал</vt:lpstr>
      <vt:lpstr>Актуальность</vt:lpstr>
      <vt:lpstr>Цели и задачи</vt:lpstr>
      <vt:lpstr>Методы решения поставленных задач</vt:lpstr>
      <vt:lpstr>Архитектура приложения</vt:lpstr>
      <vt:lpstr>Схема базы данных</vt:lpstr>
      <vt:lpstr>Алгоритм работы системы сбора данных</vt:lpstr>
      <vt:lpstr>Пользовательский интерфейс</vt:lpstr>
      <vt:lpstr>Система настройки уведомлений</vt:lpstr>
      <vt:lpstr>Уведомления</vt:lpstr>
      <vt:lpstr>Управление подписками</vt:lpstr>
      <vt:lpstr>Полученные результаты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Министерство образования и науки Российской Федерации Федеральное государственное автономное образовательное учреждение высшего образования «Московский государственный технический университет имени Н. Э. Баумана (национальный исследовательский университет)» (МГТУ им. Н. Э. Баумана) Мытищинский филиал</dc:title>
  <dc:creator>Ярослав Теплов</dc:creator>
  <cp:lastModifiedBy>Ярослав Теплов</cp:lastModifiedBy>
  <cp:revision>69</cp:revision>
  <dcterms:created xsi:type="dcterms:W3CDTF">2026-05-18T12:03:29Z</dcterms:created>
  <dcterms:modified xsi:type="dcterms:W3CDTF">2026-06-25T20:11:44Z</dcterms:modified>
</cp:coreProperties>
</file>